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3B2E"/>
        </a:solidFill>
        <a:effectLst/>
      </p:bgPr>
    </p:bg>
    <p:spTree>
      <p:nvGrpSpPr>
        <p:cNvPr id="1" name=""/>
        <p:cNvGrpSpPr/>
        <p:nvPr/>
      </p:nvGrpSpPr>
      <p:grpSpPr/>
      <p:sp>
        <p:nvSpPr>
          <p:cNvPr id="2" name="Rectangle 1"/>
          <p:cNvSpPr/>
          <p:nvPr/>
        </p:nvSpPr>
        <p:spPr>
          <a:xfrm>
            <a:off x="274320" y="274320"/>
            <a:ext cx="11643055" cy="6309360"/>
          </a:xfrm>
          <a:prstGeom prst="rect">
            <a:avLst/>
          </a:prstGeom>
          <a:noFill/>
          <a:ln w="19050">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es_logo.png"/>
          <p:cNvPicPr>
            <a:picLocks noChangeAspect="1"/>
          </p:cNvPicPr>
          <p:nvPr/>
        </p:nvPicPr>
        <p:blipFill>
          <a:blip r:embed="rId2"/>
          <a:stretch>
            <a:fillRect/>
          </a:stretch>
        </p:blipFill>
        <p:spPr>
          <a:xfrm>
            <a:off x="685800" y="685800"/>
            <a:ext cx="882791" cy="777240"/>
          </a:xfrm>
          <a:prstGeom prst="rect">
            <a:avLst/>
          </a:prstGeom>
        </p:spPr>
      </p:pic>
      <p:sp>
        <p:nvSpPr>
          <p:cNvPr id="4" name="TextBox 3"/>
          <p:cNvSpPr txBox="1"/>
          <p:nvPr/>
        </p:nvSpPr>
        <p:spPr>
          <a:xfrm>
            <a:off x="685800" y="1645920"/>
            <a:ext cx="10820095" cy="548640"/>
          </a:xfrm>
          <a:prstGeom prst="rect">
            <a:avLst/>
          </a:prstGeom>
          <a:noFill/>
        </p:spPr>
        <p:txBody>
          <a:bodyPr wrap="none">
            <a:spAutoFit/>
          </a:bodyPr>
          <a:lstStyle/>
          <a:p>
            <a:pPr>
              <a:defRPr sz="1800" b="1">
                <a:solidFill>
                  <a:srgbClr val="FFBA00"/>
                </a:solidFill>
                <a:latin typeface="Calibri"/>
              </a:defRPr>
            </a:pPr>
            <a:r>
              <a:t>IES COLLEGE OF TECHNOLOGY, BHOPAL</a:t>
            </a:r>
          </a:p>
        </p:txBody>
      </p:sp>
      <p:sp>
        <p:nvSpPr>
          <p:cNvPr id="5" name="TextBox 4"/>
          <p:cNvSpPr txBox="1"/>
          <p:nvPr/>
        </p:nvSpPr>
        <p:spPr>
          <a:xfrm>
            <a:off x="685800" y="2103120"/>
            <a:ext cx="10820095" cy="2011680"/>
          </a:xfrm>
          <a:prstGeom prst="rect">
            <a:avLst/>
          </a:prstGeom>
          <a:noFill/>
        </p:spPr>
        <p:txBody>
          <a:bodyPr wrap="square">
            <a:spAutoFit/>
          </a:bodyPr>
          <a:lstStyle/>
          <a:p>
            <a:pPr>
              <a:defRPr sz="4600" b="1">
                <a:solidFill>
                  <a:srgbClr val="FFFFFF"/>
                </a:solidFill>
                <a:latin typeface="Georgia"/>
              </a:defRPr>
            </a:pPr>
            <a:r>
              <a:t>AI MEETING INTELLIGENCE SYSTEM</a:t>
            </a:r>
          </a:p>
          <a:p>
            <a:pPr>
              <a:spcBef>
                <a:spcPts val="800"/>
              </a:spcBef>
              <a:defRPr sz="1600" i="1">
                <a:solidFill>
                  <a:srgbClr val="4A7A5D"/>
                </a:solidFill>
                <a:latin typeface="Calibri"/>
              </a:defRPr>
            </a:pPr>
            <a:r>
              <a:t>Smarter Meetings, Real-Time Translation, and Automated Summary Dashboard</a:t>
            </a:r>
          </a:p>
        </p:txBody>
      </p:sp>
      <p:sp>
        <p:nvSpPr>
          <p:cNvPr id="6" name="TextBox 5"/>
          <p:cNvSpPr txBox="1"/>
          <p:nvPr/>
        </p:nvSpPr>
        <p:spPr>
          <a:xfrm>
            <a:off x="685800" y="4297680"/>
            <a:ext cx="10820095" cy="1828800"/>
          </a:xfrm>
          <a:prstGeom prst="rect">
            <a:avLst/>
          </a:prstGeom>
          <a:noFill/>
        </p:spPr>
        <p:txBody>
          <a:bodyPr wrap="none">
            <a:spAutoFit/>
          </a:bodyPr>
          <a:lstStyle/>
          <a:p>
            <a:pPr>
              <a:defRPr sz="1400" b="1">
                <a:solidFill>
                  <a:srgbClr val="FFBA00"/>
                </a:solidFill>
                <a:latin typeface="Calibri"/>
              </a:defRPr>
            </a:pPr>
            <a:r>
              <a:t>Minor Project Presentation | 6th Semester</a:t>
            </a:r>
          </a:p>
          <a:p>
            <a:pPr>
              <a:spcBef>
                <a:spcPts val="400"/>
              </a:spcBef>
              <a:defRPr sz="1300">
                <a:solidFill>
                  <a:srgbClr val="FFFFFF"/>
                </a:solidFill>
                <a:latin typeface="Calibri"/>
              </a:defRPr>
            </a:pPr>
            <a:r>
              <a:t>Branch: Computer Science &amp; Engineering</a:t>
            </a:r>
          </a:p>
          <a:p>
            <a:pPr>
              <a:spcBef>
                <a:spcPts val="400"/>
              </a:spcBef>
              <a:defRPr sz="1300" b="1">
                <a:solidFill>
                  <a:srgbClr val="4A7A5D"/>
                </a:solidFill>
                <a:latin typeface="Calibri"/>
              </a:defRPr>
            </a:pPr>
            <a:r>
              <a:t>Project Team: Minor Project CSE Group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85800" y="365760"/>
            <a:ext cx="10820095" cy="731520"/>
          </a:xfrm>
          <a:prstGeom prst="rect">
            <a:avLst/>
          </a:prstGeom>
          <a:noFill/>
        </p:spPr>
        <p:txBody>
          <a:bodyPr wrap="square" lIns="0" tIns="0">
            <a:spAutoFit/>
          </a:bodyPr>
          <a:lstStyle/>
          <a:p>
            <a:pPr>
              <a:defRPr sz="2800" b="1">
                <a:solidFill>
                  <a:srgbClr val="0C3B2E"/>
                </a:solidFill>
                <a:latin typeface="Georgia"/>
              </a:defRPr>
            </a:pPr>
            <a:r>
              <a:t>Introduction: The Problem &amp; The Solution</a:t>
            </a:r>
          </a:p>
        </p:txBody>
      </p:sp>
      <p:sp>
        <p:nvSpPr>
          <p:cNvPr id="3" name="Rectangle 2"/>
          <p:cNvSpPr/>
          <p:nvPr/>
        </p:nvSpPr>
        <p:spPr>
          <a:xfrm>
            <a:off x="685800" y="1051560"/>
            <a:ext cx="1371600" cy="36576"/>
          </a:xfrm>
          <a:prstGeom prst="rect">
            <a:avLst/>
          </a:prstGeom>
          <a:solidFill>
            <a:srgbClr val="4A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1463040"/>
            <a:ext cx="5120640" cy="448056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45920"/>
            <a:ext cx="4754880" cy="4114800"/>
          </a:xfrm>
          <a:prstGeom prst="rect">
            <a:avLst/>
          </a:prstGeom>
          <a:noFill/>
        </p:spPr>
        <p:txBody>
          <a:bodyPr wrap="square">
            <a:spAutoFit/>
          </a:bodyPr>
          <a:lstStyle/>
          <a:p>
            <a:pPr>
              <a:spcAft>
                <a:spcPts val="1200"/>
              </a:spcAft>
              <a:defRPr sz="2000" b="1">
                <a:solidFill>
                  <a:srgbClr val="B91C1C"/>
                </a:solidFill>
                <a:latin typeface="Georgia"/>
              </a:defRPr>
            </a:pPr>
            <a:r>
              <a:t>⚠️ THE PROBLEM</a:t>
            </a:r>
          </a:p>
          <a:p>
            <a:pPr>
              <a:spcAft>
                <a:spcPts val="800"/>
              </a:spcAft>
              <a:defRPr sz="1200" b="1">
                <a:solidFill>
                  <a:srgbClr val="1E293B"/>
                </a:solidFill>
                <a:latin typeface="Calibri"/>
              </a:defRPr>
            </a:pPr>
            <a:r>
              <a:t>• Meeting Clutter &amp; Time Waste: </a:t>
            </a:r>
            <a:r>
              <a:rPr b="0" sz="1100">
                <a:solidFill>
                  <a:srgbClr val="64748B"/>
                </a:solidFill>
              </a:rPr>
              <a:t>Conversations lack structure, and precious hours are spent on side discussions without meeting their goals.</a:t>
            </a:r>
          </a:p>
          <a:p>
            <a:pPr>
              <a:spcAft>
                <a:spcPts val="800"/>
              </a:spcAft>
              <a:defRPr sz="1200" b="1">
                <a:solidFill>
                  <a:srgbClr val="1E293B"/>
                </a:solidFill>
                <a:latin typeface="Calibri"/>
              </a:defRPr>
            </a:pPr>
            <a:r>
              <a:t>• Forgotten Details: </a:t>
            </a:r>
            <a:r>
              <a:rPr b="0" sz="1100">
                <a:solidFill>
                  <a:srgbClr val="64748B"/>
                </a:solidFill>
              </a:rPr>
              <a:t>Key details, metrics, or announcements shared on calls are forgotten by 80% of participants within 24 hours.</a:t>
            </a:r>
          </a:p>
          <a:p>
            <a:pPr>
              <a:spcAft>
                <a:spcPts val="800"/>
              </a:spcAft>
              <a:defRPr sz="1200" b="1">
                <a:solidFill>
                  <a:srgbClr val="1E293B"/>
                </a:solidFill>
                <a:latin typeface="Calibri"/>
              </a:defRPr>
            </a:pPr>
            <a:r>
              <a:t>• Poor Action Item Tracking: </a:t>
            </a:r>
            <a:r>
              <a:rPr b="0" sz="1100">
                <a:solidFill>
                  <a:srgbClr val="64748B"/>
                </a:solidFill>
              </a:rPr>
              <a:t>Tasks are mentioned verbally but not logged or explicitly assigned, leading to missed deadlines.</a:t>
            </a:r>
          </a:p>
          <a:p>
            <a:pPr>
              <a:spcAft>
                <a:spcPts val="800"/>
              </a:spcAft>
              <a:defRPr sz="1200" b="1">
                <a:solidFill>
                  <a:srgbClr val="1E293B"/>
                </a:solidFill>
                <a:latin typeface="Calibri"/>
              </a:defRPr>
            </a:pPr>
            <a:r>
              <a:t>• Manual Transcription Burnout: </a:t>
            </a:r>
            <a:r>
              <a:rPr b="0" sz="1100">
                <a:solidFill>
                  <a:srgbClr val="64748B"/>
                </a:solidFill>
              </a:rPr>
              <a:t>Taking detailed minutes of meetings manually is exhausting, inaccurate, and takes hours after the call.</a:t>
            </a:r>
          </a:p>
        </p:txBody>
      </p:sp>
      <p:sp>
        <p:nvSpPr>
          <p:cNvPr id="6" name="Rounded Rectangle 5"/>
          <p:cNvSpPr/>
          <p:nvPr/>
        </p:nvSpPr>
        <p:spPr>
          <a:xfrm>
            <a:off x="6385255" y="1463040"/>
            <a:ext cx="5120640" cy="4480560"/>
          </a:xfrm>
          <a:prstGeom prst="roundRect">
            <a:avLst/>
          </a:prstGeom>
          <a:solidFill>
            <a:srgbClr val="E6F2EB"/>
          </a:solidFill>
          <a:ln w="12700">
            <a:solidFill>
              <a:srgbClr val="4A7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68135" y="1645920"/>
            <a:ext cx="4754880" cy="4114800"/>
          </a:xfrm>
          <a:prstGeom prst="rect">
            <a:avLst/>
          </a:prstGeom>
          <a:noFill/>
        </p:spPr>
        <p:txBody>
          <a:bodyPr wrap="square">
            <a:spAutoFit/>
          </a:bodyPr>
          <a:lstStyle/>
          <a:p>
            <a:pPr>
              <a:spcAft>
                <a:spcPts val="1200"/>
              </a:spcAft>
              <a:defRPr sz="2000" b="1">
                <a:solidFill>
                  <a:srgbClr val="0C3B2E"/>
                </a:solidFill>
                <a:latin typeface="Georgia"/>
              </a:defRPr>
            </a:pPr>
            <a:r>
              <a:t>💡 THE AI SOLUTION</a:t>
            </a:r>
          </a:p>
          <a:p>
            <a:pPr>
              <a:spcAft>
                <a:spcPts val="800"/>
              </a:spcAft>
              <a:defRPr sz="1200" b="1">
                <a:solidFill>
                  <a:srgbClr val="1E293B"/>
                </a:solidFill>
                <a:latin typeface="Calibri"/>
              </a:defRPr>
            </a:pPr>
            <a:r>
              <a:t>• AI Copilot Assistant: </a:t>
            </a:r>
            <a:r>
              <a:rPr b="0" sz="1100">
                <a:solidFill>
                  <a:srgbClr val="64748B"/>
                </a:solidFill>
              </a:rPr>
              <a:t>Automatically listens, tracks, and extracts insights from your meeting in the background.</a:t>
            </a:r>
          </a:p>
          <a:p>
            <a:pPr>
              <a:spcAft>
                <a:spcPts val="800"/>
              </a:spcAft>
              <a:defRPr sz="1200" b="1">
                <a:solidFill>
                  <a:srgbClr val="1E293B"/>
                </a:solidFill>
                <a:latin typeface="Calibri"/>
              </a:defRPr>
            </a:pPr>
            <a:r>
              <a:t>• Real-Time Speech-to-Text: </a:t>
            </a:r>
            <a:r>
              <a:rPr b="0" sz="1100">
                <a:solidFill>
                  <a:srgbClr val="64748B"/>
                </a:solidFill>
              </a:rPr>
              <a:t>Provides live transcription using speech recognition algorithms directly in the browser.</a:t>
            </a:r>
          </a:p>
          <a:p>
            <a:pPr>
              <a:spcAft>
                <a:spcPts val="800"/>
              </a:spcAft>
              <a:defRPr sz="1200" b="1">
                <a:solidFill>
                  <a:srgbClr val="1E293B"/>
                </a:solidFill>
                <a:latin typeface="Calibri"/>
              </a:defRPr>
            </a:pPr>
            <a:r>
              <a:t>• Smart Summarization: </a:t>
            </a:r>
            <a:r>
              <a:rPr b="0" sz="1100">
                <a:solidFill>
                  <a:srgbClr val="64748B"/>
                </a:solidFill>
              </a:rPr>
              <a:t>Generates concise, context-aware bullet points and overall engagement scores instantly when the session ends.</a:t>
            </a:r>
          </a:p>
          <a:p>
            <a:pPr>
              <a:spcAft>
                <a:spcPts val="800"/>
              </a:spcAft>
              <a:defRPr sz="1200" b="1">
                <a:solidFill>
                  <a:srgbClr val="1E293B"/>
                </a:solidFill>
                <a:latin typeface="Calibri"/>
              </a:defRPr>
            </a:pPr>
            <a:r>
              <a:t>• Automated Action-Item Assignment: </a:t>
            </a:r>
            <a:r>
              <a:rPr b="0" sz="1100">
                <a:solidFill>
                  <a:srgbClr val="64748B"/>
                </a:solidFill>
              </a:rPr>
              <a:t>Recognizes tasks and assignees, assigning them deadlines and saving them to a dashboard database.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85800" y="365760"/>
            <a:ext cx="10820095" cy="731520"/>
          </a:xfrm>
          <a:prstGeom prst="rect">
            <a:avLst/>
          </a:prstGeom>
          <a:noFill/>
        </p:spPr>
        <p:txBody>
          <a:bodyPr wrap="square" lIns="0" tIns="0">
            <a:spAutoFit/>
          </a:bodyPr>
          <a:lstStyle/>
          <a:p>
            <a:pPr>
              <a:defRPr sz="2800" b="1">
                <a:solidFill>
                  <a:srgbClr val="0C3B2E"/>
                </a:solidFill>
                <a:latin typeface="Georgia"/>
              </a:defRPr>
            </a:pPr>
            <a:r>
              <a:t>Technical Architecture &amp; System Flow</a:t>
            </a:r>
          </a:p>
        </p:txBody>
      </p:sp>
      <p:sp>
        <p:nvSpPr>
          <p:cNvPr id="3" name="Rectangle 2"/>
          <p:cNvSpPr/>
          <p:nvPr/>
        </p:nvSpPr>
        <p:spPr>
          <a:xfrm>
            <a:off x="685800" y="1051560"/>
            <a:ext cx="1371600" cy="36576"/>
          </a:xfrm>
          <a:prstGeom prst="rect">
            <a:avLst/>
          </a:prstGeom>
          <a:solidFill>
            <a:srgbClr val="4A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463040"/>
            <a:ext cx="4389120" cy="4480560"/>
          </a:xfrm>
          <a:prstGeom prst="rect">
            <a:avLst/>
          </a:prstGeom>
          <a:noFill/>
        </p:spPr>
        <p:txBody>
          <a:bodyPr wrap="square">
            <a:spAutoFit/>
          </a:bodyPr>
          <a:lstStyle/>
          <a:p>
            <a:pPr>
              <a:spcAft>
                <a:spcPts val="1000"/>
              </a:spcAft>
              <a:defRPr sz="1800" b="1">
                <a:solidFill>
                  <a:srgbClr val="0C3B2E"/>
                </a:solidFill>
                <a:latin typeface="Georgia"/>
              </a:defRPr>
            </a:pPr>
            <a:r>
              <a:t>🛠️ TECHNOLOGY STACK</a:t>
            </a:r>
          </a:p>
          <a:p>
            <a:pPr>
              <a:spcAft>
                <a:spcPts val="800"/>
              </a:spcAft>
              <a:defRPr sz="1200" b="1">
                <a:solidFill>
                  <a:srgbClr val="1E293B"/>
                </a:solidFill>
                <a:latin typeface="Calibri"/>
              </a:defRPr>
            </a:pPr>
            <a:r>
              <a:t>✔  Frontend Layer: </a:t>
            </a:r>
            <a:r>
              <a:rPr b="0" sz="1100">
                <a:solidFill>
                  <a:srgbClr val="64748B"/>
                </a:solidFill>
              </a:rPr>
              <a:t>Vite + React.js, Web Speech API (transcription), HTML5 Canvas WebRTC (P2P stream routing)</a:t>
            </a:r>
          </a:p>
          <a:p>
            <a:pPr>
              <a:spcAft>
                <a:spcPts val="800"/>
              </a:spcAft>
              <a:defRPr sz="1200" b="1">
                <a:solidFill>
                  <a:srgbClr val="1E293B"/>
                </a:solidFill>
                <a:latin typeface="Calibri"/>
              </a:defRPr>
            </a:pPr>
            <a:r>
              <a:t>✔  Backend Core: </a:t>
            </a:r>
            <a:r>
              <a:rPr b="0" sz="1100">
                <a:solidFill>
                  <a:srgbClr val="64748B"/>
                </a:solidFill>
              </a:rPr>
              <a:t>Node.js &amp; Express.js server, Socket.io duplex channels, JWT Auth</a:t>
            </a:r>
          </a:p>
          <a:p>
            <a:pPr>
              <a:spcAft>
                <a:spcPts val="800"/>
              </a:spcAft>
              <a:defRPr sz="1200" b="1">
                <a:solidFill>
                  <a:srgbClr val="1E293B"/>
                </a:solidFill>
                <a:latin typeface="Calibri"/>
              </a:defRPr>
            </a:pPr>
            <a:r>
              <a:t>✔  Database Layer: </a:t>
            </a:r>
            <a:r>
              <a:rPr b="0" sz="1100">
                <a:solidFill>
                  <a:srgbClr val="64748B"/>
                </a:solidFill>
              </a:rPr>
              <a:t>MongoDB + Mongoose schemas, with local JSONDB fallback for server resilience</a:t>
            </a:r>
          </a:p>
          <a:p>
            <a:pPr>
              <a:spcAft>
                <a:spcPts val="800"/>
              </a:spcAft>
              <a:defRPr sz="1200" b="1">
                <a:solidFill>
                  <a:srgbClr val="1E293B"/>
                </a:solidFill>
                <a:latin typeface="Calibri"/>
              </a:defRPr>
            </a:pPr>
            <a:r>
              <a:t>✔  AI Summarization: </a:t>
            </a:r>
            <a:r>
              <a:rPr b="0" sz="1100">
                <a:solidFill>
                  <a:srgbClr val="64748B"/>
                </a:solidFill>
              </a:rPr>
              <a:t>Google Gemini Developer API (Natural Language Processing for agendas and summaries)</a:t>
            </a:r>
          </a:p>
        </p:txBody>
      </p:sp>
      <p:sp>
        <p:nvSpPr>
          <p:cNvPr id="5" name="Rounded Rectangle 4"/>
          <p:cNvSpPr/>
          <p:nvPr/>
        </p:nvSpPr>
        <p:spPr>
          <a:xfrm>
            <a:off x="5303520" y="1463040"/>
            <a:ext cx="6217920" cy="4480560"/>
          </a:xfrm>
          <a:prstGeom prst="roundRect">
            <a:avLst/>
          </a:prstGeom>
          <a:solidFill>
            <a:srgbClr val="FFFFFF"/>
          </a:solidFill>
          <a:ln w="19050">
            <a:solidFill>
              <a:srgbClr val="4A7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0" y="1645920"/>
            <a:ext cx="5852160" cy="457200"/>
          </a:xfrm>
          <a:prstGeom prst="rect">
            <a:avLst/>
          </a:prstGeom>
          <a:noFill/>
        </p:spPr>
        <p:txBody>
          <a:bodyPr wrap="none">
            <a:spAutoFit/>
          </a:bodyPr>
          <a:lstStyle/>
          <a:p>
            <a:pPr>
              <a:defRPr sz="1600" b="1">
                <a:solidFill>
                  <a:srgbClr val="0C3B2E"/>
                </a:solidFill>
                <a:latin typeface="Georgia"/>
              </a:defRPr>
            </a:pPr>
            <a:r>
              <a:t>🔄 ARCHITECTURE DATA PIPELINE</a:t>
            </a:r>
          </a:p>
        </p:txBody>
      </p:sp>
      <p:sp>
        <p:nvSpPr>
          <p:cNvPr id="7" name="Rectangle 6"/>
          <p:cNvSpPr/>
          <p:nvPr/>
        </p:nvSpPr>
        <p:spPr>
          <a:xfrm>
            <a:off x="5760720" y="2286000"/>
            <a:ext cx="1463040" cy="731520"/>
          </a:xfrm>
          <a:prstGeom prst="rect">
            <a:avLst/>
          </a:prstGeom>
          <a:solidFill>
            <a:srgbClr val="E6F2EB"/>
          </a:solidFill>
          <a:ln>
            <a:solidFill>
              <a:srgbClr val="4A7A5D"/>
            </a:solid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0C3B2E"/>
                </a:solidFill>
                <a:latin typeface="Calibri"/>
              </a:defRPr>
            </a:pPr>
            <a:r>
              <a:t>React Client</a:t>
            </a:r>
          </a:p>
          <a:p>
            <a:r>
              <a:t>(Browser)</a:t>
            </a:r>
          </a:p>
        </p:txBody>
      </p:sp>
      <p:sp>
        <p:nvSpPr>
          <p:cNvPr id="8" name="Right Arrow 7"/>
          <p:cNvSpPr/>
          <p:nvPr/>
        </p:nvSpPr>
        <p:spPr>
          <a:xfrm>
            <a:off x="7315200" y="2468880"/>
            <a:ext cx="320040" cy="274320"/>
          </a:xfrm>
          <a:prstGeom prst="rightArrow">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26680" y="2286000"/>
            <a:ext cx="1463040" cy="731520"/>
          </a:xfrm>
          <a:prstGeom prst="rect">
            <a:avLst/>
          </a:prstGeom>
          <a:solidFill>
            <a:srgbClr val="0C3B2E"/>
          </a:solidFill>
          <a:ln>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Node Backend</a:t>
            </a:r>
          </a:p>
          <a:p>
            <a:r>
              <a:t>(Socket.io)</a:t>
            </a:r>
          </a:p>
        </p:txBody>
      </p:sp>
      <p:sp>
        <p:nvSpPr>
          <p:cNvPr id="10" name="Right Arrow 9"/>
          <p:cNvSpPr/>
          <p:nvPr/>
        </p:nvSpPr>
        <p:spPr>
          <a:xfrm>
            <a:off x="9281159" y="2468880"/>
            <a:ext cx="320040" cy="274320"/>
          </a:xfrm>
          <a:prstGeom prst="rightArrow">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692640" y="2286000"/>
            <a:ext cx="1371600" cy="731520"/>
          </a:xfrm>
          <a:prstGeom prst="rect">
            <a:avLst/>
          </a:prstGeom>
          <a:solidFill>
            <a:srgbClr val="E6F2EB"/>
          </a:solidFill>
          <a:ln>
            <a:solidFill>
              <a:srgbClr val="4A7A5D"/>
            </a:solid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0C3B2E"/>
                </a:solidFill>
                <a:latin typeface="Calibri"/>
              </a:defRPr>
            </a:pPr>
            <a:r>
              <a:t>AI Summarizer</a:t>
            </a:r>
          </a:p>
          <a:p>
            <a:r>
              <a:t>(Gemini API)</a:t>
            </a:r>
          </a:p>
        </p:txBody>
      </p:sp>
      <p:sp>
        <p:nvSpPr>
          <p:cNvPr id="12" name="Down Arrow 11"/>
          <p:cNvSpPr/>
          <p:nvPr/>
        </p:nvSpPr>
        <p:spPr>
          <a:xfrm>
            <a:off x="8321040" y="3108960"/>
            <a:ext cx="274320" cy="365760"/>
          </a:xfrm>
          <a:prstGeom prst="downArrow">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69480" y="3566160"/>
            <a:ext cx="2377440" cy="731520"/>
          </a:xfrm>
          <a:prstGeom prst="rect">
            <a:avLst/>
          </a:prstGeom>
          <a:solidFill>
            <a:srgbClr val="FFFFFF"/>
          </a:solidFill>
          <a:ln>
            <a:solidFill>
              <a:srgbClr val="4A7A5D"/>
            </a:solid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1E293B"/>
                </a:solidFill>
                <a:latin typeface="Calibri"/>
              </a:defRPr>
            </a:pPr>
            <a:r>
              <a:t>Persistence Layer</a:t>
            </a:r>
          </a:p>
          <a:p>
            <a:r>
              <a:t>MongoDB or JSON Database Fallback</a:t>
            </a:r>
          </a:p>
        </p:txBody>
      </p:sp>
      <p:sp>
        <p:nvSpPr>
          <p:cNvPr id="14" name="TextBox 13"/>
          <p:cNvSpPr txBox="1"/>
          <p:nvPr/>
        </p:nvSpPr>
        <p:spPr>
          <a:xfrm>
            <a:off x="5669280" y="4480560"/>
            <a:ext cx="5486400" cy="1371600"/>
          </a:xfrm>
          <a:prstGeom prst="rect">
            <a:avLst/>
          </a:prstGeom>
          <a:noFill/>
        </p:spPr>
        <p:txBody>
          <a:bodyPr wrap="square">
            <a:spAutoFit/>
          </a:bodyPr>
          <a:lstStyle/>
          <a:p>
            <a:pPr>
              <a:defRPr sz="1100" b="1">
                <a:solidFill>
                  <a:srgbClr val="1E293B"/>
                </a:solidFill>
                <a:latin typeface="Calibri"/>
              </a:defRPr>
            </a:pPr>
            <a:r>
              <a:t>Flow Description: </a:t>
            </a:r>
            <a:r>
              <a:rPr b="0">
                <a:solidFill>
                  <a:srgbClr val="64748B"/>
                </a:solidFill>
              </a:rPr>
              <a:t>Speech input is captured at the client, pushed dynamically via Socket.io to the server. The server tracks live durations, sends transcripts to the Gemini API on close, and persists results safely to MongoDB or local JSON files.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85800" y="365760"/>
            <a:ext cx="10820095" cy="731520"/>
          </a:xfrm>
          <a:prstGeom prst="rect">
            <a:avLst/>
          </a:prstGeom>
          <a:noFill/>
        </p:spPr>
        <p:txBody>
          <a:bodyPr wrap="square" lIns="0" tIns="0">
            <a:spAutoFit/>
          </a:bodyPr>
          <a:lstStyle/>
          <a:p>
            <a:pPr>
              <a:defRPr sz="2800" b="1">
                <a:solidFill>
                  <a:srgbClr val="0C3B2E"/>
                </a:solidFill>
                <a:latin typeface="Georgia"/>
              </a:defRPr>
            </a:pPr>
            <a:r>
              <a:t>Prototype Dashboard: AI Agenda &amp; Insights</a:t>
            </a:r>
          </a:p>
        </p:txBody>
      </p:sp>
      <p:sp>
        <p:nvSpPr>
          <p:cNvPr id="3" name="Rectangle 2"/>
          <p:cNvSpPr/>
          <p:nvPr/>
        </p:nvSpPr>
        <p:spPr>
          <a:xfrm>
            <a:off x="685800" y="1051560"/>
            <a:ext cx="1371600" cy="36576"/>
          </a:xfrm>
          <a:prstGeom prst="rect">
            <a:avLst/>
          </a:prstGeom>
          <a:solidFill>
            <a:srgbClr val="4A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ashboard_screenshot.png"/>
          <p:cNvPicPr>
            <a:picLocks noChangeAspect="1"/>
          </p:cNvPicPr>
          <p:nvPr/>
        </p:nvPicPr>
        <p:blipFill>
          <a:blip r:embed="rId2"/>
          <a:stretch>
            <a:fillRect/>
          </a:stretch>
        </p:blipFill>
        <p:spPr>
          <a:xfrm>
            <a:off x="685800" y="1554480"/>
            <a:ext cx="10820095" cy="3011452"/>
          </a:xfrm>
          <a:prstGeom prst="rect">
            <a:avLst/>
          </a:prstGeom>
        </p:spPr>
      </p:pic>
      <p:sp>
        <p:nvSpPr>
          <p:cNvPr id="5" name="TextBox 4"/>
          <p:cNvSpPr txBox="1"/>
          <p:nvPr/>
        </p:nvSpPr>
        <p:spPr>
          <a:xfrm>
            <a:off x="685800" y="4389120"/>
            <a:ext cx="10820095" cy="2011680"/>
          </a:xfrm>
          <a:prstGeom prst="rect">
            <a:avLst/>
          </a:prstGeom>
          <a:noFill/>
        </p:spPr>
        <p:txBody>
          <a:bodyPr wrap="square">
            <a:spAutoFit/>
          </a:bodyPr>
          <a:lstStyle/>
          <a:p>
            <a:pPr>
              <a:spcAft>
                <a:spcPts val="600"/>
              </a:spcAft>
              <a:defRPr sz="1600" b="1">
                <a:solidFill>
                  <a:srgbClr val="0C3B2E"/>
                </a:solidFill>
                <a:latin typeface="Georgia"/>
              </a:defRPr>
            </a:pPr>
            <a:r>
              <a:t>💻 PROTOTYPE INTERFACE CAPABILITIES</a:t>
            </a:r>
          </a:p>
          <a:p>
            <a:pPr>
              <a:spcAft>
                <a:spcPts val="400"/>
              </a:spcAft>
              <a:defRPr sz="1100" b="1">
                <a:solidFill>
                  <a:srgbClr val="1E293B"/>
                </a:solidFill>
                <a:latin typeface="Calibri"/>
              </a:defRPr>
            </a:pPr>
            <a:r>
              <a:t>• Smart AI Agenda Builder: </a:t>
            </a:r>
            <a:r>
              <a:rPr b="0">
                <a:solidFill>
                  <a:srgbClr val="64748B"/>
                </a:solidFill>
              </a:rPr>
              <a:t>Users define core meeting goals and duration. The AI automatically structures a chronological schedule plan (as seen on the left block).</a:t>
            </a:r>
          </a:p>
          <a:p>
            <a:pPr>
              <a:spcAft>
                <a:spcPts val="400"/>
              </a:spcAft>
              <a:defRPr sz="1100" b="1">
                <a:solidFill>
                  <a:srgbClr val="1E293B"/>
                </a:solidFill>
                <a:latin typeface="Calibri"/>
              </a:defRPr>
            </a:pPr>
            <a:r>
              <a:t>• Engagement &amp; Analytics Dashboard: </a:t>
            </a:r>
            <a:r>
              <a:rPr b="0">
                <a:solidFill>
                  <a:srgbClr val="64748B"/>
                </a:solidFill>
              </a:rPr>
              <a:t>Displays average meeting quality score, overall meeting history count, and device access distribution (Mobile vs. Desktop balance).</a:t>
            </a:r>
          </a:p>
          <a:p>
            <a:pPr>
              <a:spcAft>
                <a:spcPts val="400"/>
              </a:spcAft>
              <a:defRPr sz="1100" b="1">
                <a:solidFill>
                  <a:srgbClr val="1E293B"/>
                </a:solidFill>
                <a:latin typeface="Calibri"/>
              </a:defRPr>
            </a:pPr>
            <a:r>
              <a:t>• Task &amp; Reminder Manager: </a:t>
            </a:r>
            <a:r>
              <a:rPr b="0">
                <a:solidFill>
                  <a:srgbClr val="64748B"/>
                </a:solidFill>
              </a:rPr>
              <a:t>Extracted action items are compiled into an actionable list, allowing team members to view deadlines, assignees, and active reminders.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85800" y="365760"/>
            <a:ext cx="10820095" cy="731520"/>
          </a:xfrm>
          <a:prstGeom prst="rect">
            <a:avLst/>
          </a:prstGeom>
          <a:noFill/>
        </p:spPr>
        <p:txBody>
          <a:bodyPr wrap="square" lIns="0" tIns="0">
            <a:spAutoFit/>
          </a:bodyPr>
          <a:lstStyle/>
          <a:p>
            <a:pPr>
              <a:defRPr sz="2800" b="1">
                <a:solidFill>
                  <a:srgbClr val="0C3B2E"/>
                </a:solidFill>
                <a:latin typeface="Georgia"/>
              </a:defRPr>
            </a:pPr>
            <a:r>
              <a:t>Core Capabilities &amp; System Uniqueness</a:t>
            </a:r>
          </a:p>
        </p:txBody>
      </p:sp>
      <p:sp>
        <p:nvSpPr>
          <p:cNvPr id="3" name="Rectangle 2"/>
          <p:cNvSpPr/>
          <p:nvPr/>
        </p:nvSpPr>
        <p:spPr>
          <a:xfrm>
            <a:off x="685800" y="1051560"/>
            <a:ext cx="1371600" cy="36576"/>
          </a:xfrm>
          <a:prstGeom prst="rect">
            <a:avLst/>
          </a:prstGeom>
          <a:solidFill>
            <a:srgbClr val="4A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463040"/>
            <a:ext cx="5120640" cy="4480560"/>
          </a:xfrm>
          <a:prstGeom prst="rect">
            <a:avLst/>
          </a:prstGeom>
          <a:solidFill>
            <a:srgbClr val="FFFFFF"/>
          </a:solidFill>
          <a:ln w="12700">
            <a:solidFill>
              <a:srgbClr val="4A7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45920"/>
            <a:ext cx="4754880" cy="4114800"/>
          </a:xfrm>
          <a:prstGeom prst="rect">
            <a:avLst/>
          </a:prstGeom>
          <a:noFill/>
        </p:spPr>
        <p:txBody>
          <a:bodyPr wrap="square">
            <a:spAutoFit/>
          </a:bodyPr>
          <a:lstStyle/>
          <a:p>
            <a:pPr>
              <a:spcAft>
                <a:spcPts val="1200"/>
              </a:spcAft>
              <a:defRPr sz="2000" b="1">
                <a:solidFill>
                  <a:srgbClr val="0C3B2E"/>
                </a:solidFill>
                <a:latin typeface="Georgia"/>
              </a:defRPr>
            </a:pPr>
            <a:r>
              <a:t>🚀 CORE FEATURES</a:t>
            </a:r>
          </a:p>
          <a:p>
            <a:pPr>
              <a:spcAft>
                <a:spcPts val="800"/>
              </a:spcAft>
              <a:defRPr sz="1200" b="1">
                <a:solidFill>
                  <a:srgbClr val="1E293B"/>
                </a:solidFill>
                <a:latin typeface="Calibri"/>
              </a:defRPr>
            </a:pPr>
            <a:r>
              <a:t>• Voice-to-Chat Transcription: </a:t>
            </a:r>
            <a:r>
              <a:rPr b="0" sz="1100">
                <a:solidFill>
                  <a:srgbClr val="64748B"/>
                </a:solidFill>
              </a:rPr>
              <a:t>Converts spoken words to clean text logs inside a chatbox dynamically using HTML5 Speech APIs.</a:t>
            </a:r>
          </a:p>
          <a:p>
            <a:pPr>
              <a:spcAft>
                <a:spcPts val="800"/>
              </a:spcAft>
              <a:defRPr sz="1200" b="1">
                <a:solidFill>
                  <a:srgbClr val="1E293B"/>
                </a:solidFill>
                <a:latin typeface="Calibri"/>
              </a:defRPr>
            </a:pPr>
            <a:r>
              <a:t>• Smart NLP Agenda Generator: </a:t>
            </a:r>
            <a:r>
              <a:rPr b="0" sz="1100">
                <a:solidFill>
                  <a:srgbClr val="64748B"/>
                </a:solidFill>
              </a:rPr>
              <a:t>Analyzes the main goals of the meeting and automatically structures a draft agenda.</a:t>
            </a:r>
          </a:p>
          <a:p>
            <a:pPr>
              <a:spcAft>
                <a:spcPts val="800"/>
              </a:spcAft>
              <a:defRPr sz="1200" b="1">
                <a:solidFill>
                  <a:srgbClr val="1E293B"/>
                </a:solidFill>
                <a:latin typeface="Calibri"/>
              </a:defRPr>
            </a:pPr>
            <a:r>
              <a:t>• AI Summaries &amp; Action Items: </a:t>
            </a:r>
            <a:r>
              <a:rPr b="0" sz="1100">
                <a:solidFill>
                  <a:srgbClr val="64748B"/>
                </a:solidFill>
              </a:rPr>
              <a:t>Builds a bulleted summary of key decisions, points, and extracted checklist tasks after meeting close.</a:t>
            </a:r>
          </a:p>
          <a:p>
            <a:pPr>
              <a:spcAft>
                <a:spcPts val="800"/>
              </a:spcAft>
              <a:defRPr sz="1200" b="1">
                <a:solidFill>
                  <a:srgbClr val="1E293B"/>
                </a:solidFill>
                <a:latin typeface="Calibri"/>
              </a:defRPr>
            </a:pPr>
            <a:r>
              <a:t>• Real-Time Speech Translation: </a:t>
            </a:r>
            <a:r>
              <a:rPr b="0" sz="1100">
                <a:solidFill>
                  <a:srgbClr val="64748B"/>
                </a:solidFill>
              </a:rPr>
              <a:t>Instantly translates incoming voice transcriptions to target languages (Hindi, Spanish, French).</a:t>
            </a:r>
          </a:p>
        </p:txBody>
      </p:sp>
      <p:sp>
        <p:nvSpPr>
          <p:cNvPr id="6" name="Rectangle 5"/>
          <p:cNvSpPr/>
          <p:nvPr/>
        </p:nvSpPr>
        <p:spPr>
          <a:xfrm>
            <a:off x="6385255" y="1463040"/>
            <a:ext cx="5120640" cy="4480560"/>
          </a:xfrm>
          <a:prstGeom prst="rect">
            <a:avLst/>
          </a:prstGeom>
          <a:solidFill>
            <a:srgbClr val="0C3B2E"/>
          </a:solidFill>
          <a:ln w="12700">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68135" y="1645920"/>
            <a:ext cx="4754880" cy="4114800"/>
          </a:xfrm>
          <a:prstGeom prst="rect">
            <a:avLst/>
          </a:prstGeom>
          <a:noFill/>
        </p:spPr>
        <p:txBody>
          <a:bodyPr wrap="square">
            <a:spAutoFit/>
          </a:bodyPr>
          <a:lstStyle/>
          <a:p>
            <a:pPr>
              <a:spcAft>
                <a:spcPts val="1200"/>
              </a:spcAft>
              <a:defRPr sz="2000" b="1">
                <a:solidFill>
                  <a:srgbClr val="FFBA00"/>
                </a:solidFill>
                <a:latin typeface="Georgia"/>
              </a:defRPr>
            </a:pPr>
            <a:r>
              <a:t>⭐ UNIQUE ADVANTAGES</a:t>
            </a:r>
          </a:p>
          <a:p>
            <a:pPr>
              <a:spcAft>
                <a:spcPts val="800"/>
              </a:spcAft>
              <a:defRPr sz="1200" b="1">
                <a:solidFill>
                  <a:srgbClr val="FFFFFF"/>
                </a:solidFill>
                <a:latin typeface="Calibri"/>
              </a:defRPr>
            </a:pPr>
            <a:r>
              <a:t>• Dual-Layer Chrome Extension: </a:t>
            </a:r>
            <a:r>
              <a:rPr b="0" sz="1100">
                <a:solidFill>
                  <a:srgbClr val="C8D7CD"/>
                </a:solidFill>
              </a:rPr>
              <a:t>Integrates natively with Google Meet/Zoom, scraping and syncing real-time states invisibly to the app.</a:t>
            </a:r>
          </a:p>
          <a:p>
            <a:pPr>
              <a:spcAft>
                <a:spcPts val="800"/>
              </a:spcAft>
              <a:defRPr sz="1200" b="1">
                <a:solidFill>
                  <a:srgbClr val="FFFFFF"/>
                </a:solidFill>
                <a:latin typeface="Calibri"/>
              </a:defRPr>
            </a:pPr>
            <a:r>
              <a:t>• Hardware Toggle Tracking: </a:t>
            </a:r>
            <a:r>
              <a:rPr b="0" sz="1100">
                <a:solidFill>
                  <a:srgbClr val="C8D7CD"/>
                </a:solidFill>
              </a:rPr>
              <a:t>Analyzes User-Agent states and keeps a precise log of how many times a user switches mic/camera.</a:t>
            </a:r>
          </a:p>
          <a:p>
            <a:pPr>
              <a:spcAft>
                <a:spcPts val="800"/>
              </a:spcAft>
              <a:defRPr sz="1200" b="1">
                <a:solidFill>
                  <a:srgbClr val="FFFFFF"/>
                </a:solidFill>
                <a:latin typeface="Calibri"/>
              </a:defRPr>
            </a:pPr>
            <a:r>
              <a:t>• Inclusive Collaboration Analytics: </a:t>
            </a:r>
            <a:r>
              <a:rPr b="0" sz="1100">
                <a:solidFill>
                  <a:srgbClr val="C8D7CD"/>
                </a:solidFill>
              </a:rPr>
              <a:t>Tracks speaking percentage balance and alerts hosts if certain participants are ignored.</a:t>
            </a:r>
          </a:p>
          <a:p>
            <a:pPr>
              <a:spcAft>
                <a:spcPts val="800"/>
              </a:spcAft>
              <a:defRPr sz="1200" b="1">
                <a:solidFill>
                  <a:srgbClr val="FFFFFF"/>
                </a:solidFill>
                <a:latin typeface="Calibri"/>
              </a:defRPr>
            </a:pPr>
            <a:r>
              <a:t>• Zero-Config JSONDB Fallback: </a:t>
            </a:r>
            <a:r>
              <a:rPr b="0" sz="1100">
                <a:solidFill>
                  <a:srgbClr val="C8D7CD"/>
                </a:solidFill>
              </a:rPr>
              <a:t>If MongoDB fails, the system self-heals by dynamically routing database queries to local JSON files.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85800" y="365760"/>
            <a:ext cx="10820095" cy="731520"/>
          </a:xfrm>
          <a:prstGeom prst="rect">
            <a:avLst/>
          </a:prstGeom>
          <a:noFill/>
        </p:spPr>
        <p:txBody>
          <a:bodyPr wrap="square" lIns="0" tIns="0">
            <a:spAutoFit/>
          </a:bodyPr>
          <a:lstStyle/>
          <a:p>
            <a:pPr>
              <a:defRPr sz="2800" b="1">
                <a:solidFill>
                  <a:srgbClr val="0C3B2E"/>
                </a:solidFill>
                <a:latin typeface="Georgia"/>
              </a:defRPr>
            </a:pPr>
            <a:r>
              <a:t>Benefits, User Impact &amp; Economic Value</a:t>
            </a:r>
          </a:p>
        </p:txBody>
      </p:sp>
      <p:sp>
        <p:nvSpPr>
          <p:cNvPr id="3" name="Rectangle 2"/>
          <p:cNvSpPr/>
          <p:nvPr/>
        </p:nvSpPr>
        <p:spPr>
          <a:xfrm>
            <a:off x="685800" y="1051560"/>
            <a:ext cx="1371600" cy="36576"/>
          </a:xfrm>
          <a:prstGeom prst="rect">
            <a:avLst/>
          </a:prstGeom>
          <a:solidFill>
            <a:srgbClr val="4A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1463040"/>
            <a:ext cx="5120640" cy="4480560"/>
          </a:xfrm>
          <a:prstGeom prst="roundRect">
            <a:avLst/>
          </a:prstGeom>
          <a:solidFill>
            <a:srgbClr val="FFFFFF"/>
          </a:solidFill>
          <a:ln w="19050">
            <a:solidFill>
              <a:srgbClr val="4A7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45920"/>
            <a:ext cx="4754880" cy="4114800"/>
          </a:xfrm>
          <a:prstGeom prst="rect">
            <a:avLst/>
          </a:prstGeom>
          <a:noFill/>
        </p:spPr>
        <p:txBody>
          <a:bodyPr wrap="square">
            <a:spAutoFit/>
          </a:bodyPr>
          <a:lstStyle/>
          <a:p>
            <a:pPr>
              <a:spcAft>
                <a:spcPts val="1200"/>
              </a:spcAft>
              <a:defRPr sz="2000" b="1">
                <a:solidFill>
                  <a:srgbClr val="0C3B2E"/>
                </a:solidFill>
                <a:latin typeface="Georgia"/>
              </a:defRPr>
            </a:pPr>
            <a:r>
              <a:t>👤 BENEFIT TO THE USER</a:t>
            </a:r>
          </a:p>
          <a:p>
            <a:pPr>
              <a:spcAft>
                <a:spcPts val="800"/>
              </a:spcAft>
              <a:defRPr sz="1200" b="1">
                <a:solidFill>
                  <a:srgbClr val="1E293B"/>
                </a:solidFill>
                <a:latin typeface="Calibri"/>
              </a:defRPr>
            </a:pPr>
            <a:r>
              <a:t>✔ Save 30-40% Time Per Call: </a:t>
            </a:r>
            <a:r>
              <a:rPr b="0" sz="1100">
                <a:solidFill>
                  <a:srgbClr val="64748B"/>
                </a:solidFill>
              </a:rPr>
              <a:t>Eliminates minutes writing, manual summaries, and the need to follow up with users directly after meetings.</a:t>
            </a:r>
          </a:p>
          <a:p>
            <a:pPr>
              <a:spcAft>
                <a:spcPts val="800"/>
              </a:spcAft>
              <a:defRPr sz="1200" b="1">
                <a:solidFill>
                  <a:srgbClr val="1E293B"/>
                </a:solidFill>
                <a:latin typeface="Calibri"/>
              </a:defRPr>
            </a:pPr>
            <a:r>
              <a:t>✔ 100% Accountability: </a:t>
            </a:r>
            <a:r>
              <a:rPr b="0" sz="1100">
                <a:solidFill>
                  <a:srgbClr val="64748B"/>
                </a:solidFill>
              </a:rPr>
              <a:t>Extracted action items are saved with clear owners and due dates, ensuring tasks are not lost.</a:t>
            </a:r>
          </a:p>
          <a:p>
            <a:pPr>
              <a:spcAft>
                <a:spcPts val="800"/>
              </a:spcAft>
              <a:defRPr sz="1200" b="1">
                <a:solidFill>
                  <a:srgbClr val="1E293B"/>
                </a:solidFill>
                <a:latin typeface="Calibri"/>
              </a:defRPr>
            </a:pPr>
            <a:r>
              <a:t>✔ Seamless Communication: </a:t>
            </a:r>
            <a:r>
              <a:rPr b="0" sz="1100">
                <a:solidFill>
                  <a:srgbClr val="64748B"/>
                </a:solidFill>
              </a:rPr>
              <a:t>Real-time voice translation allows multi-lingual teams to interact comfortably without language barriers.</a:t>
            </a:r>
          </a:p>
          <a:p>
            <a:pPr>
              <a:spcAft>
                <a:spcPts val="800"/>
              </a:spcAft>
              <a:defRPr sz="1200" b="1">
                <a:solidFill>
                  <a:srgbClr val="1E293B"/>
                </a:solidFill>
                <a:latin typeface="Calibri"/>
              </a:defRPr>
            </a:pPr>
            <a:r>
              <a:t>✔ Enhanced Focus: </a:t>
            </a:r>
            <a:r>
              <a:rPr b="0" sz="1100">
                <a:solidFill>
                  <a:srgbClr val="64748B"/>
                </a:solidFill>
              </a:rPr>
              <a:t>Teams can focus entirely on the discussion rather than multitasking between listening and note-taking.</a:t>
            </a:r>
          </a:p>
        </p:txBody>
      </p:sp>
      <p:sp>
        <p:nvSpPr>
          <p:cNvPr id="6" name="Rounded Rectangle 5"/>
          <p:cNvSpPr/>
          <p:nvPr/>
        </p:nvSpPr>
        <p:spPr>
          <a:xfrm>
            <a:off x="6385255" y="1463040"/>
            <a:ext cx="5120640" cy="4480560"/>
          </a:xfrm>
          <a:prstGeom prst="roundRect">
            <a:avLst/>
          </a:prstGeom>
          <a:solidFill>
            <a:srgbClr val="0C3B2E"/>
          </a:solidFill>
          <a:ln w="19050">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68135" y="1645920"/>
            <a:ext cx="4754880" cy="4114800"/>
          </a:xfrm>
          <a:prstGeom prst="rect">
            <a:avLst/>
          </a:prstGeom>
          <a:noFill/>
        </p:spPr>
        <p:txBody>
          <a:bodyPr wrap="square">
            <a:spAutoFit/>
          </a:bodyPr>
          <a:lstStyle/>
          <a:p>
            <a:pPr>
              <a:spcAft>
                <a:spcPts val="1200"/>
              </a:spcAft>
              <a:defRPr sz="2000" b="1">
                <a:solidFill>
                  <a:srgbClr val="FFBA00"/>
                </a:solidFill>
                <a:latin typeface="Georgia"/>
              </a:defRPr>
            </a:pPr>
            <a:r>
              <a:t>📈 MACRO-ECONOMIC VALUE</a:t>
            </a:r>
          </a:p>
          <a:p>
            <a:pPr>
              <a:spcAft>
                <a:spcPts val="800"/>
              </a:spcAft>
              <a:defRPr sz="1200" b="1">
                <a:solidFill>
                  <a:srgbClr val="FFFFFF"/>
                </a:solidFill>
                <a:latin typeface="Calibri"/>
              </a:defRPr>
            </a:pPr>
            <a:r>
              <a:t>✔ Reduces Corporate Waste: </a:t>
            </a:r>
            <a:r>
              <a:rPr b="0" sz="1100">
                <a:solidFill>
                  <a:srgbClr val="C8D7CD"/>
                </a:solidFill>
              </a:rPr>
              <a:t>Unproductive meetings cost billions globally. AI summaries reduce meeting overload and save corporate billing hours.</a:t>
            </a:r>
          </a:p>
          <a:p>
            <a:pPr>
              <a:spcAft>
                <a:spcPts val="800"/>
              </a:spcAft>
              <a:defRPr sz="1200" b="1">
                <a:solidFill>
                  <a:srgbClr val="FFFFFF"/>
                </a:solidFill>
                <a:latin typeface="Calibri"/>
              </a:defRPr>
            </a:pPr>
            <a:r>
              <a:t>✔ Accelerates Business Cycle: </a:t>
            </a:r>
            <a:r>
              <a:rPr b="0" sz="1100">
                <a:solidFill>
                  <a:srgbClr val="C8D7CD"/>
                </a:solidFill>
              </a:rPr>
              <a:t>Action items auto-assigned are completed faster, cutting down project turnaround time and accelerating product delivery.</a:t>
            </a:r>
          </a:p>
          <a:p>
            <a:pPr>
              <a:spcAft>
                <a:spcPts val="800"/>
              </a:spcAft>
              <a:defRPr sz="1200" b="1">
                <a:solidFill>
                  <a:srgbClr val="FFFFFF"/>
                </a:solidFill>
                <a:latin typeface="Calibri"/>
              </a:defRPr>
            </a:pPr>
            <a:r>
              <a:t>✔ Facilitates Global Sourcing: </a:t>
            </a:r>
            <a:r>
              <a:rPr b="0" sz="1100">
                <a:solidFill>
                  <a:srgbClr val="C8D7CD"/>
                </a:solidFill>
              </a:rPr>
              <a:t>Language translation unlocks global workforce potential, allowing companies to collaborate and hire without local constraints.</a:t>
            </a:r>
          </a:p>
          <a:p>
            <a:pPr>
              <a:spcAft>
                <a:spcPts val="800"/>
              </a:spcAft>
              <a:defRPr sz="1200" b="1">
                <a:solidFill>
                  <a:srgbClr val="FFFFFF"/>
                </a:solidFill>
                <a:latin typeface="Calibri"/>
              </a:defRPr>
            </a:pPr>
            <a:r>
              <a:t>✔ SaaS Scalability &amp; High ROI: </a:t>
            </a:r>
            <a:r>
              <a:rPr b="0" sz="1100">
                <a:solidFill>
                  <a:srgbClr val="C8D7CD"/>
                </a:solidFill>
              </a:rPr>
              <a:t>Minimal server compute overhead coupled with highly optimized API usage delivers scalable tech with massive return on investment.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85800" y="365760"/>
            <a:ext cx="10820095" cy="731520"/>
          </a:xfrm>
          <a:prstGeom prst="rect">
            <a:avLst/>
          </a:prstGeom>
          <a:noFill/>
        </p:spPr>
        <p:txBody>
          <a:bodyPr wrap="square" lIns="0" tIns="0">
            <a:spAutoFit/>
          </a:bodyPr>
          <a:lstStyle/>
          <a:p>
            <a:pPr>
              <a:defRPr sz="2800" b="1">
                <a:solidFill>
                  <a:srgbClr val="0C3B2E"/>
                </a:solidFill>
                <a:latin typeface="Georgia"/>
              </a:defRPr>
            </a:pPr>
            <a:r>
              <a:t>System Architecture &amp; Meeting Data Workflow</a:t>
            </a:r>
          </a:p>
        </p:txBody>
      </p:sp>
      <p:sp>
        <p:nvSpPr>
          <p:cNvPr id="3" name="Rectangle 2"/>
          <p:cNvSpPr/>
          <p:nvPr/>
        </p:nvSpPr>
        <p:spPr>
          <a:xfrm>
            <a:off x="685800" y="1051560"/>
            <a:ext cx="1371600" cy="36576"/>
          </a:xfrm>
          <a:prstGeom prst="rect">
            <a:avLst/>
          </a:prstGeom>
          <a:solidFill>
            <a:srgbClr val="4A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2286000"/>
            <a:ext cx="2011680" cy="1097280"/>
          </a:xfrm>
          <a:prstGeom prst="roundRect">
            <a:avLst/>
          </a:prstGeom>
          <a:solidFill>
            <a:srgbClr val="FFFFFF"/>
          </a:solidFill>
          <a:ln w="19050">
            <a:solidFill>
              <a:srgbClr val="4A7A5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C3B2E"/>
                </a:solidFill>
                <a:latin typeface="Calibri"/>
              </a:defRPr>
            </a:pPr>
            <a:r>
              <a:t>1. Meeting Active</a:t>
            </a:r>
            <a:br/>
            <a:r>
              <a:rPr sz="900">
                <a:solidFill>
                  <a:srgbClr val="64748B"/>
                </a:solidFill>
              </a:rPr>
              <a:t>(Google Meet / Web)</a:t>
            </a:r>
          </a:p>
        </p:txBody>
      </p:sp>
      <p:sp>
        <p:nvSpPr>
          <p:cNvPr id="5" name="Right Arrow 4"/>
          <p:cNvSpPr/>
          <p:nvPr/>
        </p:nvSpPr>
        <p:spPr>
          <a:xfrm>
            <a:off x="2788920" y="2651760"/>
            <a:ext cx="365760" cy="365760"/>
          </a:xfrm>
          <a:prstGeom prst="rightArrow">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46120" y="2286000"/>
            <a:ext cx="2011680" cy="1097280"/>
          </a:xfrm>
          <a:prstGeom prst="roundRect">
            <a:avLst/>
          </a:prstGeom>
          <a:solidFill>
            <a:srgbClr val="FFFFFF"/>
          </a:solidFill>
          <a:ln w="19050">
            <a:solidFill>
              <a:srgbClr val="4A7A5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C3B2E"/>
                </a:solidFill>
                <a:latin typeface="Calibri"/>
              </a:defRPr>
            </a:pPr>
            <a:r>
              <a:t>2. Scrape &amp; Capture</a:t>
            </a:r>
            <a:br/>
            <a:r>
              <a:rPr sz="900">
                <a:solidFill>
                  <a:srgbClr val="64748B"/>
                </a:solidFill>
              </a:rPr>
              <a:t>(DOM Scraper / Mic)</a:t>
            </a:r>
          </a:p>
        </p:txBody>
      </p:sp>
      <p:sp>
        <p:nvSpPr>
          <p:cNvPr id="7" name="Right Arrow 6"/>
          <p:cNvSpPr/>
          <p:nvPr/>
        </p:nvSpPr>
        <p:spPr>
          <a:xfrm>
            <a:off x="5349240" y="2651760"/>
            <a:ext cx="365760" cy="365760"/>
          </a:xfrm>
          <a:prstGeom prst="rightArrow">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806440" y="2286000"/>
            <a:ext cx="2011680" cy="1097280"/>
          </a:xfrm>
          <a:prstGeom prst="roundRect">
            <a:avLst/>
          </a:prstGeom>
          <a:solidFill>
            <a:srgbClr val="0C3B2E"/>
          </a:solidFill>
          <a:ln w="19050">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3. Node Backend</a:t>
            </a:r>
            <a:br/>
            <a:r>
              <a:rPr sz="900">
                <a:solidFill>
                  <a:srgbClr val="FFBA00"/>
                </a:solidFill>
              </a:rPr>
              <a:t>(Socket.io duplex sync)</a:t>
            </a:r>
          </a:p>
        </p:txBody>
      </p:sp>
      <p:sp>
        <p:nvSpPr>
          <p:cNvPr id="9" name="Right Arrow 8"/>
          <p:cNvSpPr/>
          <p:nvPr/>
        </p:nvSpPr>
        <p:spPr>
          <a:xfrm>
            <a:off x="7909560" y="2651760"/>
            <a:ext cx="365760" cy="365760"/>
          </a:xfrm>
          <a:prstGeom prst="rightArrow">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366760" y="2286000"/>
            <a:ext cx="2011680" cy="1097280"/>
          </a:xfrm>
          <a:prstGeom prst="roundRect">
            <a:avLst/>
          </a:prstGeom>
          <a:solidFill>
            <a:srgbClr val="FFFFFF"/>
          </a:solidFill>
          <a:ln w="19050">
            <a:solidFill>
              <a:srgbClr val="4A7A5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C3B2E"/>
                </a:solidFill>
                <a:latin typeface="Calibri"/>
              </a:defRPr>
            </a:pPr>
            <a:r>
              <a:t>4. AI NLP Engine</a:t>
            </a:r>
            <a:br/>
            <a:r>
              <a:rPr sz="900">
                <a:solidFill>
                  <a:srgbClr val="64748B"/>
                </a:solidFill>
              </a:rPr>
              <a:t>(Gemini Summary / Trans)</a:t>
            </a:r>
          </a:p>
        </p:txBody>
      </p:sp>
      <p:sp>
        <p:nvSpPr>
          <p:cNvPr id="11" name="Right Arrow 10"/>
          <p:cNvSpPr/>
          <p:nvPr/>
        </p:nvSpPr>
        <p:spPr>
          <a:xfrm>
            <a:off x="10469880" y="2651760"/>
            <a:ext cx="320040" cy="365760"/>
          </a:xfrm>
          <a:prstGeom prst="rightArrow">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881360" y="2286000"/>
            <a:ext cx="1188720" cy="1097280"/>
          </a:xfrm>
          <a:prstGeom prst="roundRect">
            <a:avLst/>
          </a:prstGeom>
          <a:solidFill>
            <a:srgbClr val="FFFFFF"/>
          </a:solidFill>
          <a:ln w="19050">
            <a:solidFill>
              <a:srgbClr val="4A7A5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C3B2E"/>
                </a:solidFill>
                <a:latin typeface="Calibri"/>
              </a:defRPr>
            </a:pPr>
            <a:r>
              <a:t>5. DB Persistence</a:t>
            </a:r>
            <a:br/>
            <a:r>
              <a:rPr sz="850">
                <a:solidFill>
                  <a:srgbClr val="64748B"/>
                </a:solidFill>
              </a:rPr>
              <a:t>(JSONDB / Mongo)</a:t>
            </a:r>
          </a:p>
        </p:txBody>
      </p:sp>
      <p:sp>
        <p:nvSpPr>
          <p:cNvPr id="13" name="TextBox 12"/>
          <p:cNvSpPr txBox="1"/>
          <p:nvPr/>
        </p:nvSpPr>
        <p:spPr>
          <a:xfrm>
            <a:off x="685800" y="3931920"/>
            <a:ext cx="10820095" cy="2011680"/>
          </a:xfrm>
          <a:prstGeom prst="rect">
            <a:avLst/>
          </a:prstGeom>
          <a:noFill/>
        </p:spPr>
        <p:txBody>
          <a:bodyPr wrap="square">
            <a:spAutoFit/>
          </a:bodyPr>
          <a:lstStyle/>
          <a:p>
            <a:pPr>
              <a:spcAft>
                <a:spcPts val="800"/>
              </a:spcAft>
              <a:defRPr sz="1600" b="1">
                <a:solidFill>
                  <a:srgbClr val="0C3B2E"/>
                </a:solidFill>
                <a:latin typeface="Georgia"/>
              </a:defRPr>
            </a:pPr>
            <a:r>
              <a:t>💻 TECHNICAL WORKFLOW DESCRIPTION</a:t>
            </a:r>
          </a:p>
          <a:p>
            <a:pPr>
              <a:spcAft>
                <a:spcPts val="400"/>
              </a:spcAft>
              <a:defRPr sz="1100" b="1">
                <a:solidFill>
                  <a:srgbClr val="1E293B"/>
                </a:solidFill>
                <a:latin typeface="Calibri"/>
              </a:defRPr>
            </a:pPr>
            <a:r>
              <a:t>• Chrome Extension DOM Scraper: </a:t>
            </a:r>
            <a:r>
              <a:rPr b="0">
                <a:solidFill>
                  <a:srgbClr val="64748B"/>
                </a:solidFill>
              </a:rPr>
              <a:t>Runs script bridges on active Google Meet or Zoom tabs to scrape mic/camera statuses and transcribe closed captions (CC).</a:t>
            </a:r>
          </a:p>
          <a:p>
            <a:pPr>
              <a:spcAft>
                <a:spcPts val="400"/>
              </a:spcAft>
              <a:defRPr sz="1100" b="1">
                <a:solidFill>
                  <a:srgbClr val="1E293B"/>
                </a:solidFill>
                <a:latin typeface="Calibri"/>
              </a:defRPr>
            </a:pPr>
            <a:r>
              <a:t>• WebSocket Event-driven Hub: </a:t>
            </a:r>
            <a:r>
              <a:rPr b="0">
                <a:solidFill>
                  <a:srgbClr val="64748B"/>
                </a:solidFill>
              </a:rPr>
              <a:t>Socket.io relays events (`toggle-media`, `speech-transcribed`) instantly to the Node.js backend to record participation analytics.</a:t>
            </a:r>
          </a:p>
          <a:p>
            <a:pPr>
              <a:spcAft>
                <a:spcPts val="400"/>
              </a:spcAft>
              <a:defRPr sz="1100" b="1">
                <a:solidFill>
                  <a:srgbClr val="1E293B"/>
                </a:solidFill>
                <a:latin typeface="Calibri"/>
              </a:defRPr>
            </a:pPr>
            <a:r>
              <a:t>• AI NLP Summary &amp; JSON Storage: </a:t>
            </a:r>
            <a:r>
              <a:rPr b="0">
                <a:solidFill>
                  <a:srgbClr val="64748B"/>
                </a:solidFill>
              </a:rPr>
              <a:t>When the session is closed, the backend sends the transcript to the Gemini NLP engine, maps tasks to assignees in Mongoose Schema, and stores them in local JSONDB files/MongoDB.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