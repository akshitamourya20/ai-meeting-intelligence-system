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9050">
            <a:solidFill>
              <a:srgbClr val="F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882791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64592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A00"/>
                </a:solidFill>
                <a:latin typeface="Calibri"/>
              </a:defRPr>
            </a:pPr>
            <a:r>
              <a:t>IES COLLEGE OF TECHNOLOGY, BHOPAL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820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Georgia"/>
              </a:defRPr>
            </a:pPr>
            <a:r>
              <a:t>AI MEETING INTELLIGENCE SYSTEM</a:t>
            </a:r>
          </a:p>
          <a:p>
            <a:pPr>
              <a:spcBef>
                <a:spcPts val="800"/>
              </a:spcBef>
              <a:defRPr sz="1600" i="1">
                <a:solidFill>
                  <a:srgbClr val="4A7A5D"/>
                </a:solidFill>
                <a:latin typeface="Calibri"/>
              </a:defRPr>
            </a:pPr>
            <a:r>
              <a:t>Smarter Meetings, Real-Time Translation, and Automated Summary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97680"/>
            <a:ext cx="10820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BA00"/>
                </a:solidFill>
                <a:latin typeface="Calibri"/>
              </a:defRPr>
            </a:pPr>
            <a:r>
              <a:t>Minor Project Presentation | 6th Semester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Branch: Computer Science &amp; Engineering</a:t>
            </a:r>
          </a:p>
          <a:p>
            <a:pPr>
              <a:spcBef>
                <a:spcPts val="400"/>
              </a:spcBef>
              <a:defRPr sz="1300" b="1">
                <a:solidFill>
                  <a:srgbClr val="4A7A5D"/>
                </a:solidFill>
                <a:latin typeface="Calibri"/>
              </a:defRPr>
            </a:pPr>
            <a:r>
              <a:t>Project Team: Minor Project CSE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C3B2E"/>
                </a:solidFill>
                <a:latin typeface="Georgia"/>
              </a:defRPr>
            </a:pPr>
            <a:r>
              <a:t>Introduction: The Problem &amp;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4A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480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91C1C"/>
                </a:solidFill>
                <a:latin typeface="Georgia"/>
              </a:defRPr>
            </a:pPr>
            <a:r>
              <a:t>⚠️ THE PROBLEM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Meeting Clutter &amp; Time Waste: </a:t>
            </a:r>
            <a:r>
              <a:rPr b="0" sz="1100">
                <a:solidFill>
                  <a:srgbClr val="64748B"/>
                </a:solidFill>
              </a:rPr>
              <a:t>Conversations lack structure, and precious hours are spent on side discussions without meeting their goals.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Forgotten Details: </a:t>
            </a:r>
            <a:r>
              <a:rPr b="0" sz="1100">
                <a:solidFill>
                  <a:srgbClr val="64748B"/>
                </a:solidFill>
              </a:rPr>
              <a:t>Key details, metrics, or announcements shared on calls are forgotten by 80% of participants within 24 hours.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Poor Action Item Tracking: </a:t>
            </a:r>
            <a:r>
              <a:rPr b="0" sz="1100">
                <a:solidFill>
                  <a:srgbClr val="64748B"/>
                </a:solidFill>
              </a:rPr>
              <a:t>Tasks are mentioned verbally but not logged or explicitly assigned, leading to missed deadlines.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Manual Transcription Burnout: </a:t>
            </a:r>
            <a:r>
              <a:rPr b="0" sz="1100">
                <a:solidFill>
                  <a:srgbClr val="64748B"/>
                </a:solidFill>
              </a:rPr>
              <a:t>Taking detailed minutes of meetings manually is exhausting, inaccurate, and takes hours after the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5255" y="1463040"/>
            <a:ext cx="5120640" cy="4480560"/>
          </a:xfrm>
          <a:prstGeom prst="roundRect">
            <a:avLst/>
          </a:prstGeom>
          <a:solidFill>
            <a:srgbClr val="E6F2EB"/>
          </a:solidFill>
          <a:ln w="1270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C3B2E"/>
                </a:solidFill>
                <a:latin typeface="Georgia"/>
              </a:defRPr>
            </a:pPr>
            <a:r>
              <a:t>💡 THE AI SOLUTION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AI Copilot Assistant: </a:t>
            </a:r>
            <a:r>
              <a:rPr b="0" sz="1100">
                <a:solidFill>
                  <a:srgbClr val="64748B"/>
                </a:solidFill>
              </a:rPr>
              <a:t>Automatically listens, tracks, and extracts insights from your meeting in the background.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Real-Time Speech-to-Text: </a:t>
            </a:r>
            <a:r>
              <a:rPr b="0" sz="1100">
                <a:solidFill>
                  <a:srgbClr val="64748B"/>
                </a:solidFill>
              </a:rPr>
              <a:t>Provides live transcription using speech recognition algorithms directly in the browser.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Smart Summarization: </a:t>
            </a:r>
            <a:r>
              <a:rPr b="0" sz="1100">
                <a:solidFill>
                  <a:srgbClr val="64748B"/>
                </a:solidFill>
              </a:rPr>
              <a:t>Generates concise, context-aware bullet points and overall engagement scores instantly when the session ends.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Automated Action-Item Assignment: </a:t>
            </a:r>
            <a:r>
              <a:rPr b="0" sz="1100">
                <a:solidFill>
                  <a:srgbClr val="64748B"/>
                </a:solidFill>
              </a:rPr>
              <a:t>Recognizes tasks and assignees, assigning them deadlines and saving them to a dashboard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C3B2E"/>
                </a:solidFill>
                <a:latin typeface="Georgia"/>
              </a:defRPr>
            </a:pPr>
            <a:r>
              <a:t>Technical Architecture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4A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C3B2E"/>
                </a:solidFill>
                <a:latin typeface="Calibri"/>
              </a:defRPr>
            </a:pPr>
            <a:r>
              <a:t>FRONTEND LAYER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React.js &amp; Vite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HTML5 Semantics &amp; CSS Variables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Web Speech API (Speech Recognition)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WebRTC Signaling (P2P video streaming)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C3B2E"/>
                </a:solidFill>
                <a:latin typeface="Calibri"/>
              </a:defRPr>
            </a:pPr>
            <a:r>
              <a:t>BACKEND LAYER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Node.js &amp; Express.js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Socket.io (Real-time duplex sync)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RESTful API Endpoints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JSON Web Token (JWT) Session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55448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459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C3B2E"/>
                </a:solidFill>
                <a:latin typeface="Calibri"/>
              </a:defRPr>
            </a:pPr>
            <a:r>
              <a:t>DATABASE LAYER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Local JSON File Database (Fallback)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MongoDB &amp; Mongoose ODM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Dynamic Model Proxy (switches DB dynamically)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Data Persistence (Task &amp; Meeting collections)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69079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C3B2E"/>
                </a:solidFill>
                <a:latin typeface="Calibri"/>
              </a:defRPr>
            </a:pPr>
            <a:r>
              <a:t>CHROME EXTENSION HELPER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Manifest V3 Extension Standard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DOM Content Scraper (Google Meet / Zoom)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Background Socket Bridge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Real-Time Event 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77639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69079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C3B2E"/>
                </a:solidFill>
                <a:latin typeface="Calibri"/>
              </a:defRPr>
            </a:pPr>
            <a:r>
              <a:t>AI &amp; INTEGRATION LAYER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Google Gemini Developer API (NLP summaries)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Translation Middleware (Live Translate)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Concurrently (Frontend &amp; Backend run script)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Tailored HSL Styling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77639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069079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C3B2E"/>
                </a:solidFill>
                <a:latin typeface="Calibri"/>
              </a:defRPr>
            </a:pPr>
            <a:r>
              <a:t>DEPLOYMENT &amp; RUNTIME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Vercel (Production Frontend Hosting)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Render (Production Backend API Server)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NodeJS Runtime Environment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✔  Git &amp; GitHub Version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C3B2E"/>
                </a:solidFill>
                <a:latin typeface="Georgia"/>
              </a:defRPr>
            </a:pPr>
            <a:r>
              <a:t>Core Capabilities &amp; System Uniqueness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4A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C3B2E"/>
                </a:solidFill>
                <a:latin typeface="Georgia"/>
              </a:defRPr>
            </a:pPr>
            <a:r>
              <a:t>🚀 CORE FEATURES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Voice-to-Chat Transcription: </a:t>
            </a:r>
            <a:r>
              <a:rPr b="0" sz="1100">
                <a:solidFill>
                  <a:srgbClr val="64748B"/>
                </a:solidFill>
              </a:rPr>
              <a:t>Converts spoken words to clean text logs inside a chatbox dynamically using HTML5 Speech APIs.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Smart NLP Agenda Generator: </a:t>
            </a:r>
            <a:r>
              <a:rPr b="0" sz="1100">
                <a:solidFill>
                  <a:srgbClr val="64748B"/>
                </a:solidFill>
              </a:rPr>
              <a:t>Analyzes the main goals of the meeting and automatically structures a draft agenda.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AI Summaries &amp; Action Items: </a:t>
            </a:r>
            <a:r>
              <a:rPr b="0" sz="1100">
                <a:solidFill>
                  <a:srgbClr val="64748B"/>
                </a:solidFill>
              </a:rPr>
              <a:t>Builds a bulleted summary of key decisions, points, and extracted checklist tasks after meeting close.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Real-Time Speech Translation: </a:t>
            </a:r>
            <a:r>
              <a:rPr b="0" sz="1100">
                <a:solidFill>
                  <a:srgbClr val="64748B"/>
                </a:solidFill>
              </a:rPr>
              <a:t>Instantly translates incoming voice transcriptions to target languages (Hindi, Spanish, French).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5255" y="1463040"/>
            <a:ext cx="5120640" cy="4480560"/>
          </a:xfrm>
          <a:prstGeom prst="rect">
            <a:avLst/>
          </a:prstGeom>
          <a:solidFill>
            <a:srgbClr val="0C3B2E"/>
          </a:solidFill>
          <a:ln w="12700">
            <a:solidFill>
              <a:srgbClr val="F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BA00"/>
                </a:solidFill>
                <a:latin typeface="Georgia"/>
              </a:defRPr>
            </a:pPr>
            <a:r>
              <a:t>⭐ UNIQUE ADVANTAGES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• Dual-Layer Chrome Extension: </a:t>
            </a:r>
            <a:r>
              <a:rPr b="0" sz="1100">
                <a:solidFill>
                  <a:srgbClr val="C8D7CD"/>
                </a:solidFill>
              </a:rPr>
              <a:t>Integrates natively with Google Meet/Zoom, scraping and syncing real-time states invisibly to the app.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• Hardware Toggle Tracking: </a:t>
            </a:r>
            <a:r>
              <a:rPr b="0" sz="1100">
                <a:solidFill>
                  <a:srgbClr val="C8D7CD"/>
                </a:solidFill>
              </a:rPr>
              <a:t>Analyzes User-Agent states and keeps a precise log of how many times a user switches mic/camera.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• Inclusive Collaboration Analytics: </a:t>
            </a:r>
            <a:r>
              <a:rPr b="0" sz="1100">
                <a:solidFill>
                  <a:srgbClr val="C8D7CD"/>
                </a:solidFill>
              </a:rPr>
              <a:t>Tracks speaking percentage balance and alerts hosts if certain participants are ignored.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• Zero-Config JSONDB Fallback: </a:t>
            </a:r>
            <a:r>
              <a:rPr b="0" sz="1100">
                <a:solidFill>
                  <a:srgbClr val="C8D7CD"/>
                </a:solidFill>
              </a:rPr>
              <a:t>If MongoDB fails, the system self-heals by dynamically routing database queries to local JSON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C3B2E"/>
                </a:solidFill>
                <a:latin typeface="Georgia"/>
              </a:defRPr>
            </a:pPr>
            <a:r>
              <a:t>Benefits, User Impact &amp; Economic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4A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C3B2E"/>
                </a:solidFill>
                <a:latin typeface="Georgia"/>
              </a:defRPr>
            </a:pPr>
            <a:r>
              <a:t>👤 BENEFIT TO THE USER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✔ Save 30-40% Time Per Call: </a:t>
            </a:r>
            <a:r>
              <a:rPr b="0" sz="1100">
                <a:solidFill>
                  <a:srgbClr val="64748B"/>
                </a:solidFill>
              </a:rPr>
              <a:t>Eliminates minutes writing, manual summaries, and the need to follow up with users directly after meetings.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✔ 100% Accountability: </a:t>
            </a:r>
            <a:r>
              <a:rPr b="0" sz="1100">
                <a:solidFill>
                  <a:srgbClr val="64748B"/>
                </a:solidFill>
              </a:rPr>
              <a:t>Extracted action items are saved with clear owners and due dates, ensuring tasks are not lost.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✔ Seamless Communication: </a:t>
            </a:r>
            <a:r>
              <a:rPr b="0" sz="1100">
                <a:solidFill>
                  <a:srgbClr val="64748B"/>
                </a:solidFill>
              </a:rPr>
              <a:t>Real-time voice translation allows multi-lingual teams to interact comfortably without language barriers.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✔ Enhanced Focus: </a:t>
            </a:r>
            <a:r>
              <a:rPr b="0" sz="1100">
                <a:solidFill>
                  <a:srgbClr val="64748B"/>
                </a:solidFill>
              </a:rPr>
              <a:t>Teams can focus entirely on the discussion rather than multitasking between listening and note-taking.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5255" y="1463040"/>
            <a:ext cx="5120640" cy="4480560"/>
          </a:xfrm>
          <a:prstGeom prst="roundRect">
            <a:avLst/>
          </a:prstGeom>
          <a:solidFill>
            <a:srgbClr val="0C3B2E"/>
          </a:solidFill>
          <a:ln w="19050">
            <a:solidFill>
              <a:srgbClr val="F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BA00"/>
                </a:solidFill>
                <a:latin typeface="Georgia"/>
              </a:defRPr>
            </a:pPr>
            <a:r>
              <a:t>📈 MACRO-ECONOMIC VALUE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✔ Reduces Corporate Waste: </a:t>
            </a:r>
            <a:r>
              <a:rPr b="0" sz="1100">
                <a:solidFill>
                  <a:srgbClr val="C8D7CD"/>
                </a:solidFill>
              </a:rPr>
              <a:t>Unproductive meetings cost billions globally. AI summaries reduce meeting overload and save corporate billing hours.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✔ Accelerates Business Cycle: </a:t>
            </a:r>
            <a:r>
              <a:rPr b="0" sz="1100">
                <a:solidFill>
                  <a:srgbClr val="C8D7CD"/>
                </a:solidFill>
              </a:rPr>
              <a:t>Action items auto-assigned are completed faster, cutting down project turnaround time and accelerating product delivery.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✔ Facilitates Global Sourcing: </a:t>
            </a:r>
            <a:r>
              <a:rPr b="0" sz="1100">
                <a:solidFill>
                  <a:srgbClr val="C8D7CD"/>
                </a:solidFill>
              </a:rPr>
              <a:t>Language translation unlocks global workforce potential, allowing companies to collaborate and hire without local constraints.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✔ SaaS Scalability &amp; High ROI: </a:t>
            </a:r>
            <a:r>
              <a:rPr b="0" sz="1100">
                <a:solidFill>
                  <a:srgbClr val="C8D7CD"/>
                </a:solidFill>
              </a:rPr>
              <a:t>Minimal server compute overhead coupled with highly optimized API usage delivers scalable tech with massive return on investment.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C3B2E"/>
                </a:solidFill>
                <a:latin typeface="Georgia"/>
              </a:defRPr>
            </a:pPr>
            <a:r>
              <a:t>System Architecture &amp; Meeting Data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4A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C3B2E"/>
                </a:solidFill>
                <a:latin typeface="Calibri"/>
              </a:defRPr>
            </a:pPr>
            <a:r>
              <a:t>1. Meeting Active</a:t>
            </a:r>
            <a:br/>
            <a:r>
              <a:rPr sz="900">
                <a:solidFill>
                  <a:srgbClr val="64748B"/>
                </a:solidFill>
              </a:rPr>
              <a:t>(Google Meet / Web)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2651760"/>
            <a:ext cx="365760" cy="365760"/>
          </a:xfrm>
          <a:prstGeom prst="rightArrow">
            <a:avLst/>
          </a:prstGeom>
          <a:solidFill>
            <a:srgbClr val="F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228600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C3B2E"/>
                </a:solidFill>
                <a:latin typeface="Calibri"/>
              </a:defRPr>
            </a:pPr>
            <a:r>
              <a:t>2. Scrape &amp; Capture</a:t>
            </a:r>
            <a:br/>
            <a:r>
              <a:rPr sz="900">
                <a:solidFill>
                  <a:srgbClr val="64748B"/>
                </a:solidFill>
              </a:rPr>
              <a:t>(DOM Scraper / Mic)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49240" y="2651760"/>
            <a:ext cx="365760" cy="365760"/>
          </a:xfrm>
          <a:prstGeom prst="rightArrow">
            <a:avLst/>
          </a:prstGeom>
          <a:solidFill>
            <a:srgbClr val="F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06440" y="2286000"/>
            <a:ext cx="2011680" cy="1097280"/>
          </a:xfrm>
          <a:prstGeom prst="roundRect">
            <a:avLst/>
          </a:prstGeom>
          <a:solidFill>
            <a:srgbClr val="0C3B2E"/>
          </a:solidFill>
          <a:ln w="19050">
            <a:solidFill>
              <a:srgbClr val="F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Node Backend</a:t>
            </a:r>
            <a:br/>
            <a:r>
              <a:rPr sz="900">
                <a:solidFill>
                  <a:srgbClr val="FFBA00"/>
                </a:solidFill>
              </a:rPr>
              <a:t>(Socket.io duplex sync)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09560" y="2651760"/>
            <a:ext cx="365760" cy="365760"/>
          </a:xfrm>
          <a:prstGeom prst="rightArrow">
            <a:avLst/>
          </a:prstGeom>
          <a:solidFill>
            <a:srgbClr val="F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228600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C3B2E"/>
                </a:solidFill>
                <a:latin typeface="Calibri"/>
              </a:defRPr>
            </a:pPr>
            <a:r>
              <a:t>4. AI NLP Engine</a:t>
            </a:r>
            <a:br/>
            <a:r>
              <a:rPr sz="900">
                <a:solidFill>
                  <a:srgbClr val="64748B"/>
                </a:solidFill>
              </a:rPr>
              <a:t>(Gemini Summary / Trans)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469880" y="2651760"/>
            <a:ext cx="320040" cy="365760"/>
          </a:xfrm>
          <a:prstGeom prst="rightArrow">
            <a:avLst/>
          </a:prstGeom>
          <a:solidFill>
            <a:srgbClr val="F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881360" y="2286000"/>
            <a:ext cx="1188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C3B2E"/>
                </a:solidFill>
                <a:latin typeface="Calibri"/>
              </a:defRPr>
            </a:pPr>
            <a:r>
              <a:t>5. DB Persistence</a:t>
            </a:r>
            <a:br/>
            <a:r>
              <a:rPr sz="850">
                <a:solidFill>
                  <a:srgbClr val="64748B"/>
                </a:solidFill>
              </a:rPr>
              <a:t>(JSONDB / Mongo)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10820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3B2E"/>
                </a:solidFill>
                <a:latin typeface="Georgia"/>
              </a:defRPr>
            </a:pPr>
            <a:r>
              <a:t>💻 TECHNICAL WORKFLOW DESCRIPTION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• Chrome Extension DOM Scraper: </a:t>
            </a:r>
            <a:r>
              <a:rPr b="0">
                <a:solidFill>
                  <a:srgbClr val="64748B"/>
                </a:solidFill>
              </a:rPr>
              <a:t>Runs script bridges on active Google Meet or Zoom tabs to scrape mic/camera statuses and transcribe closed captions (CC).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• WebSocket Event-driven Hub: </a:t>
            </a:r>
            <a:r>
              <a:rPr b="0">
                <a:solidFill>
                  <a:srgbClr val="64748B"/>
                </a:solidFill>
              </a:rPr>
              <a:t>Socket.io relays events (`toggle-media`, `speech-transcribed`) instantly to the Node.js backend to record participation analytics.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• AI NLP Summary &amp; JSON Storage: </a:t>
            </a:r>
            <a:r>
              <a:rPr b="0">
                <a:solidFill>
                  <a:srgbClr val="64748B"/>
                </a:solidFill>
              </a:rPr>
              <a:t>When the session is closed, the backend sends the transcript to the Gemini NLP engine, maps tasks to assignees in Mongoose Schema, and stores them in local JSONDB files/MongoDB.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